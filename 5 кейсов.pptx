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  <p:embeddedFont>
      <p:font typeface="Manrope" panose="020B0604020202020204" charset="0"/>
      <p:regular r:id="rId19"/>
    </p:embeddedFont>
    <p:embeddedFont>
      <p:font typeface="Wingdings 3" panose="05040102010807070707" pitchFamily="18" charset="2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26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10124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76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7272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9649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6002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5017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706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2352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13254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3606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67043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4353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739056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10638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2020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99221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918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592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045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97363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8331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92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32665" y="189"/>
            <a:ext cx="2828009" cy="8223715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11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7205" y="304204"/>
            <a:ext cx="11792932" cy="101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</a:t>
            </a:r>
            <a:r>
              <a:rPr lang="en-US" sz="4450" dirty="0" err="1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кейсов</a:t>
            </a: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взломов известных компаний</a:t>
            </a:r>
            <a:endParaRPr lang="en-US" sz="4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47744-8BFB-480A-801F-41B0BE79426B}"/>
              </a:ext>
            </a:extLst>
          </p:cNvPr>
          <p:cNvSpPr txBox="1"/>
          <p:nvPr/>
        </p:nvSpPr>
        <p:spPr>
          <a:xfrm>
            <a:off x="7280606" y="7744443"/>
            <a:ext cx="23676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/>
              <a:t>By:Akylbek</a:t>
            </a:r>
            <a:endParaRPr lang="ru-RU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05CB8A-9423-4369-ADB3-8C9FAE16E694}"/>
              </a:ext>
            </a:extLst>
          </p:cNvPr>
          <p:cNvSpPr txBox="1"/>
          <p:nvPr/>
        </p:nvSpPr>
        <p:spPr>
          <a:xfrm>
            <a:off x="4930218" y="7731249"/>
            <a:ext cx="1536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CS-13-25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D45E6A-2240-457B-BF33-33126C551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444" y="1130005"/>
            <a:ext cx="11670325" cy="656455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388ACA-ACB2-49AD-8280-683B66CA92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200" b="98000" l="10000" r="90000">
                        <a14:foregroundMark x1="45978" y1="9600" x2="50543" y2="11600"/>
                        <a14:foregroundMark x1="47609" y1="90600" x2="51087" y2="90800"/>
                        <a14:foregroundMark x1="40652" y1="88000" x2="38478" y2="75200"/>
                        <a14:foregroundMark x1="38478" y1="75200" x2="39891" y2="52400"/>
                        <a14:foregroundMark x1="49565" y1="96200" x2="52283" y2="98000"/>
                        <a14:foregroundMark x1="49674" y1="2200" x2="50652" y2="36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773963" y="2349205"/>
            <a:ext cx="5691072" cy="309297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28A1C5-66A8-4CD3-8E41-9F927F650F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200" b="98000" l="10000" r="90000">
                        <a14:foregroundMark x1="45978" y1="9600" x2="50543" y2="11600"/>
                        <a14:foregroundMark x1="47609" y1="90600" x2="51087" y2="90800"/>
                        <a14:foregroundMark x1="40652" y1="88000" x2="38478" y2="75200"/>
                        <a14:foregroundMark x1="38478" y1="75200" x2="39891" y2="52400"/>
                        <a14:foregroundMark x1="49565" y1="96200" x2="52283" y2="98000"/>
                        <a14:foregroundMark x1="49674" y1="2200" x2="50652" y2="36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67617" y="2865797"/>
            <a:ext cx="5691072" cy="3092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6805"/>
            <a:ext cx="105940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Взлом Sony PlayStation Network (2011)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9819"/>
            <a:ext cx="692443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апреле 2011 года игровая индустрия столкнулась с одним из самых масштабных взломов в истории. Хакеры получили доступ к данным </a:t>
            </a:r>
            <a:r>
              <a:rPr lang="en-US" sz="17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77 миллионов пользователей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Sony PlayStation Network. Этот инцидент привел к утечке личных данных, включая имена, адреса, электронные почты, пароли и даже данные кредитных карт.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41307"/>
            <a:ext cx="692443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Сеть PlayStation Network оставалась недоступной почти целый месяц, что привело к огромным финансовым потерям для Sony, исчисляемым сотнями миллионов долларов. Этот взлом стал наглядным уроком, подчеркивающим критическую важность защиты личных данных и информации о платежах в онлайн-сервисах.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227" y="2752627"/>
            <a:ext cx="6682574" cy="4232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3773" y="683776"/>
            <a:ext cx="5845850" cy="592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Взлом Yahoo (2013-2014)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3773" y="1557309"/>
            <a:ext cx="3813453" cy="3220045"/>
          </a:xfrm>
          <a:prstGeom prst="roundRect">
            <a:avLst>
              <a:gd name="adj" fmla="val 3408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63772" y="1440396"/>
            <a:ext cx="3813453" cy="91440"/>
          </a:xfrm>
          <a:prstGeom prst="roundRect">
            <a:avLst>
              <a:gd name="adj" fmla="val 186670"/>
            </a:avLst>
          </a:prstGeom>
          <a:solidFill>
            <a:srgbClr val="FF7047"/>
          </a:solidFill>
          <a:ln/>
        </p:spPr>
      </p:sp>
      <p:sp>
        <p:nvSpPr>
          <p:cNvPr id="8" name="Text 4"/>
          <p:cNvSpPr/>
          <p:nvPr/>
        </p:nvSpPr>
        <p:spPr>
          <a:xfrm>
            <a:off x="795804" y="1594672"/>
            <a:ext cx="237065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Масштаб утечки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95804" y="1895824"/>
            <a:ext cx="3388638" cy="212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результате двух кибератак, произошедших в 2013 и 2014 годах, были украдены данные более </a:t>
            </a:r>
            <a:r>
              <a:rPr lang="en-US" sz="14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миллиардов аккаунтов</a:t>
            </a: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Yahoo. Это делает данный инцидент одним из крупнейших в истории по числу пострадавших пользователей.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4689419" y="1553112"/>
            <a:ext cx="3813453" cy="3220045"/>
          </a:xfrm>
          <a:prstGeom prst="roundRect">
            <a:avLst>
              <a:gd name="adj" fmla="val 3408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4689419" y="1438812"/>
            <a:ext cx="3813453" cy="91440"/>
          </a:xfrm>
          <a:prstGeom prst="roundRect">
            <a:avLst>
              <a:gd name="adj" fmla="val 186670"/>
            </a:avLst>
          </a:prstGeom>
          <a:solidFill>
            <a:srgbClr val="FF7047"/>
          </a:solidFill>
          <a:ln/>
        </p:spPr>
      </p:sp>
      <p:sp>
        <p:nvSpPr>
          <p:cNvPr id="14" name="Text 9"/>
          <p:cNvSpPr/>
          <p:nvPr/>
        </p:nvSpPr>
        <p:spPr>
          <a:xfrm>
            <a:off x="4721492" y="1594672"/>
            <a:ext cx="244435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Похищенные данные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4721492" y="1890900"/>
            <a:ext cx="3388638" cy="212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руках хакеров оказались имена пользователей, адреса электронной почты, пароли в хешированном виде, даты рождения, номера телефонов и даже секретные вопросы с ответами, что открыло широкие возможности для кражи личных данных.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63772" y="5224994"/>
            <a:ext cx="7816453" cy="1734815"/>
          </a:xfrm>
          <a:prstGeom prst="roundRect">
            <a:avLst>
              <a:gd name="adj" fmla="val 5468"/>
            </a:avLst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63773" y="5126292"/>
            <a:ext cx="7816453" cy="91440"/>
          </a:xfrm>
          <a:prstGeom prst="roundRect">
            <a:avLst>
              <a:gd name="adj" fmla="val 186670"/>
            </a:avLst>
          </a:prstGeom>
          <a:solidFill>
            <a:srgbClr val="FF7047"/>
          </a:solidFill>
          <a:ln/>
        </p:spPr>
      </p:sp>
      <p:sp>
        <p:nvSpPr>
          <p:cNvPr id="20" name="Text 14"/>
          <p:cNvSpPr/>
          <p:nvPr/>
        </p:nvSpPr>
        <p:spPr>
          <a:xfrm>
            <a:off x="795803" y="5369144"/>
            <a:ext cx="237065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Удар по репутации</a:t>
            </a:r>
            <a:endParaRPr lang="en-US" sz="1850" dirty="0"/>
          </a:p>
        </p:txBody>
      </p:sp>
      <p:sp>
        <p:nvSpPr>
          <p:cNvPr id="21" name="Text 15"/>
          <p:cNvSpPr/>
          <p:nvPr/>
        </p:nvSpPr>
        <p:spPr>
          <a:xfrm>
            <a:off x="795804" y="5809522"/>
            <a:ext cx="7391638" cy="910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Yahoo долгое время скрывала истинные масштабы утечки, что впоследствии сильно подорвало доверие пользователей и негативно сказалось на репутации компании, приведя к значительным убыткам и снижению стоимости активов.</a:t>
            </a:r>
            <a:endParaRPr lang="en-US" sz="145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1D9E26E-7E49-460C-86BB-61C658591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076" y="216766"/>
            <a:ext cx="5845850" cy="365958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A98BEE0-FE65-4913-A222-0C75A55E5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076" y="4279770"/>
            <a:ext cx="5859282" cy="35517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4380" y="126418"/>
            <a:ext cx="57307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Взлом Equifax (2017)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39828" y="952869"/>
            <a:ext cx="760428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2017 году одно из крупнейших кредитных бюро США, Equifax, стало жертвой масштабной кибератаки, в результате которой были украдены данные </a:t>
            </a:r>
            <a:r>
              <a:rPr lang="en-US" sz="17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147 миллионов человек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Этот инцидент затронул конфиденциальную информацию, включая номера социального страхования, даты рождения, адреса, номера водительских прав и даже данные кредитных карт.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39828" y="4481049"/>
            <a:ext cx="760428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Хакеры воспользовались уязвимостью в программном обеспечении компании, что подчеркнуло недостаточность мер безопасности. В конечном итоге Equifax пришлось выплатить </a:t>
            </a:r>
            <a:r>
              <a:rPr lang="en-US" sz="17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штрафы на сотни миллионов долларов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а самый случай стал ярким примером того, насколько опасными могут быть утечки данных в финансовом секторе, где хранится наиболее чувствительная информация.</a:t>
            </a:r>
            <a:endParaRPr lang="en-US" sz="175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39E23C-CF60-4D50-AD42-75DEDBC3A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7" y="949751"/>
            <a:ext cx="5869756" cy="3301738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E5815C73-42FC-4AAA-B0B9-CB9CC106E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8" y="4481049"/>
            <a:ext cx="5869756" cy="3081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11359" y="540544"/>
            <a:ext cx="4484846" cy="558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Взлом Google (2010)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111359" y="1366361"/>
            <a:ext cx="78940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2010 году Google подвергся сложной кибератаке, известной как операция «Аврора».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111359" y="1852970"/>
            <a:ext cx="714256" cy="1071443"/>
          </a:xfrm>
          <a:prstGeom prst="roundRect">
            <a:avLst>
              <a:gd name="adj" fmla="val 36003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004090" y="2031444"/>
            <a:ext cx="2232184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 атаки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004090" y="2417445"/>
            <a:ext cx="70013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Считается, что за атакой стояли хакеры из Китая, целью которых был шпионаж.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111359" y="3102888"/>
            <a:ext cx="714256" cy="1314450"/>
          </a:xfrm>
          <a:prstGeom prst="roundRect">
            <a:avLst>
              <a:gd name="adj" fmla="val 36003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004090" y="3281363"/>
            <a:ext cx="2232184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шпионажа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004090" y="3667363"/>
            <a:ext cx="7001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Злоумышленники стремились получить доступ к аккаунтам сотрудников Google и журналистов, а также украсть интеллектуальную собственность компании.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111359" y="4595813"/>
            <a:ext cx="714256" cy="1314450"/>
          </a:xfrm>
          <a:prstGeom prst="roundRect">
            <a:avLst>
              <a:gd name="adj" fmla="val 36003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7004090" y="4774287"/>
            <a:ext cx="2704981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Последствия для Google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004090" y="5160288"/>
            <a:ext cx="7001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ответ на цензуру и кибератаки, Google частично приостановила свою работу в Китае, что привело к значительному изменению её стратегии на рынке.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111359" y="6088737"/>
            <a:ext cx="714256" cy="1600200"/>
          </a:xfrm>
          <a:prstGeom prst="roundRect">
            <a:avLst>
              <a:gd name="adj" fmla="val 36003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7004090" y="6267212"/>
            <a:ext cx="234969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Урок для корпораций</a:t>
            </a:r>
            <a:endParaRPr lang="en-US" sz="1750" dirty="0"/>
          </a:p>
        </p:txBody>
      </p:sp>
      <p:sp>
        <p:nvSpPr>
          <p:cNvPr id="20" name="Text 13"/>
          <p:cNvSpPr/>
          <p:nvPr/>
        </p:nvSpPr>
        <p:spPr>
          <a:xfrm>
            <a:off x="7004090" y="6653213"/>
            <a:ext cx="700135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Этот инцидент стал сигналом для всех крупных корпораций о том, насколько важна кибербезопасность в условиях постоянно растущих геополитических угроз и промышленного шпионажа.</a:t>
            </a:r>
            <a:endParaRPr lang="en-US" sz="14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899379A-9569-4E75-9655-5872B3BD1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7" y="248274"/>
            <a:ext cx="5888090" cy="360728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A2851F7-6EDE-49B5-A5F7-F31240699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8" y="4052502"/>
            <a:ext cx="5884409" cy="3928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3903"/>
            <a:ext cx="82023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Взлом Colonial Pipeline (2021)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6916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мае 2021 года крупнейший нефтепровод США, Colonial Pipeline, стал жертвой </a:t>
            </a:r>
            <a:r>
              <a:rPr lang="en-US" sz="175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вымогательской атаки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организованной хакерской группировкой DarkSide. Злоумышленники зашифровали данные компании и заблокировали работу нефтепровода, потребовав выкуп.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89" y="4219574"/>
            <a:ext cx="6244709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Остановка работы критически важной инфраструктуры вызвала серьезные последствия: дефицит топлива на Восточном побережье США и резкий рост цен на бензин. Компания была вынуждена заплатить выкуп в размере </a:t>
            </a:r>
            <a:r>
              <a:rPr lang="en-US" sz="17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4,4 миллиона долларов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в криптовалюте. Этот инцидент ярко продемонстрировал уязвимость критической инфраструктуры перед кибератаками и подчеркнул необходимость усиления национальной кибербезопасности.</a:t>
            </a:r>
            <a:endParaRPr lang="en-US" sz="175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0E0F14-8578-4D4C-86E2-E6CCCFA24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517" y="2574470"/>
            <a:ext cx="7238089" cy="4071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4D94392-9CA4-4D09-8986-79207CB67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54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35</TotalTime>
  <Words>537</Words>
  <Application>Microsoft Office PowerPoint</Application>
  <PresentationFormat>Произвольный</PresentationFormat>
  <Paragraphs>35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Century Gothic</vt:lpstr>
      <vt:lpstr>Calibri</vt:lpstr>
      <vt:lpstr>Wingdings 3</vt:lpstr>
      <vt:lpstr>Inter</vt:lpstr>
      <vt:lpstr>Arial</vt:lpstr>
      <vt:lpstr>Manrope</vt:lpstr>
      <vt:lpstr>Легкий дым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Акылбек Анарбеков</cp:lastModifiedBy>
  <cp:revision>5</cp:revision>
  <dcterms:created xsi:type="dcterms:W3CDTF">2025-12-18T17:01:03Z</dcterms:created>
  <dcterms:modified xsi:type="dcterms:W3CDTF">2025-12-18T17:36:52Z</dcterms:modified>
</cp:coreProperties>
</file>